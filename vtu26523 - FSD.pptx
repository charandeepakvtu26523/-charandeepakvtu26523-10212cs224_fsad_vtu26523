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71" r:id="rId7"/>
    <p:sldId id="261" r:id="rId8"/>
    <p:sldId id="262" r:id="rId9"/>
    <p:sldId id="263" r:id="rId10"/>
    <p:sldId id="264" r:id="rId11"/>
    <p:sldId id="266" r:id="rId12"/>
    <p:sldId id="269" r:id="rId13"/>
    <p:sldId id="267" r:id="rId14"/>
    <p:sldId id="268" r:id="rId15"/>
    <p:sldId id="270" r:id="rId16"/>
    <p:sldId id="265" r:id="rId17"/>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22" autoAdjust="0"/>
  </p:normalViewPr>
  <p:slideViewPr>
    <p:cSldViewPr>
      <p:cViewPr varScale="1">
        <p:scale>
          <a:sx n="48" d="100"/>
          <a:sy n="48" d="100"/>
        </p:scale>
        <p:origin x="924" y="75"/>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27-03-2026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6057900"/>
            <a:ext cx="15784162"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Automated Quiz Engine with PDF Certification Generation</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46508" y="7774636"/>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a:latin typeface="Cambria" panose="02040503050406030204" pitchFamily="18" charset="0"/>
                <a:ea typeface="Cambria" panose="02040503050406030204" pitchFamily="18" charset="0"/>
              </a:rPr>
              <a:t>K.CHARANDEEPAK – VTU26523 – 23UECS0756</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443985"/>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IN" sz="3200" dirty="0"/>
              <a:t>Dr. Hafizur Rahman – 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No – SDG Title(Example: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291275" y="1638300"/>
            <a:ext cx="15082325" cy="4401205"/>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31" name="Rectangle 6">
            <a:extLst>
              <a:ext uri="{FF2B5EF4-FFF2-40B4-BE49-F238E27FC236}">
                <a16:creationId xmlns:a16="http://schemas.microsoft.com/office/drawing/2014/main" id="{4186DAEE-19F5-B7F0-54E5-40A2D5D48695}"/>
              </a:ext>
            </a:extLst>
          </p:cNvPr>
          <p:cNvSpPr>
            <a:spLocks noChangeArrowheads="1"/>
          </p:cNvSpPr>
          <p:nvPr/>
        </p:nvSpPr>
        <p:spPr bwMode="auto">
          <a:xfrm>
            <a:off x="2528664" y="1072088"/>
            <a:ext cx="12082910"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Many online quiz systems lack automation and proper result management, making evaluation slow and inefficient.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quiz correction and certificate generation require time and human effort.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solves these problems by automating quiz conduction, scoring, and certification.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important because it reduces human errors and saves time in educational and training environments.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has real-world relevance in schools, colleges, and online learning platforms.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Users can register, login, and attempt quizzes dynamically from a database.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automatically calculates scores and stores results securely.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also generates a PDF certificate for users who pass the quiz, making it a complete automated solution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9202519"/>
          </a:xfrm>
          <a:prstGeom prst="rect">
            <a:avLst/>
          </a:prstGeom>
          <a:noFill/>
        </p:spPr>
        <p:txBody>
          <a:bodyPr wrap="square" rtlCol="0">
            <a:spAutoFit/>
          </a:bodyPr>
          <a:lstStyle/>
          <a:p>
            <a:endParaRPr lang="en-US" sz="2800" dirty="0"/>
          </a:p>
          <a:p>
            <a:endParaRPr lang="en-US" sz="2800" dirty="0"/>
          </a:p>
          <a:p>
            <a:endParaRPr lang="en-US" sz="2800" dirty="0"/>
          </a:p>
          <a:p>
            <a:r>
              <a:rPr lang="en-US" sz="2400" dirty="0">
                <a:latin typeface="Times New Roman" panose="02020603050405020304" pitchFamily="18" charset="0"/>
                <a:cs typeface="Times New Roman" panose="02020603050405020304" pitchFamily="18" charset="0"/>
              </a:rPr>
              <a:t>The current quiz systems in many educational and training environments are not fully automated and often rely on manual</a:t>
            </a:r>
          </a:p>
          <a:p>
            <a:r>
              <a:rPr lang="en-US" sz="2400" dirty="0">
                <a:latin typeface="Times New Roman" panose="02020603050405020304" pitchFamily="18" charset="0"/>
                <a:cs typeface="Times New Roman" panose="02020603050405020304" pitchFamily="18" charset="0"/>
              </a:rPr>
              <a:t> processes for evaluation and certification. This leads to delays, errors in scoring, and inefficient management of user data and results. Additionally, there is no integrated mechanism to instantly generate certificates after successful completion of quizzes. This creates inconvenience for both administrators and users. Therefore, there is a need for a simple, reliable, and automated quiz system that can conduct exams, evaluate responses, store results, and generate certificates efficiently to improve accuracy and performance.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2" name="TextBox 51">
            <a:extLst>
              <a:ext uri="{FF2B5EF4-FFF2-40B4-BE49-F238E27FC236}">
                <a16:creationId xmlns:a16="http://schemas.microsoft.com/office/drawing/2014/main" id="{056A0A3A-1541-5EC0-5370-02DA282ABDDE}"/>
              </a:ext>
            </a:extLst>
          </p:cNvPr>
          <p:cNvSpPr txBox="1"/>
          <p:nvPr/>
        </p:nvSpPr>
        <p:spPr>
          <a:xfrm>
            <a:off x="1981200" y="2284152"/>
            <a:ext cx="15082325" cy="4832092"/>
          </a:xfrm>
          <a:prstGeom prst="rect">
            <a:avLst/>
          </a:prstGeom>
          <a:noFill/>
        </p:spPr>
        <p:txBody>
          <a:bodyPr wrap="square" rtlCol="0">
            <a:spAutoFit/>
          </a:bodyPr>
          <a:lstStyle/>
          <a:p>
            <a:endParaRPr lang="en-US" sz="2800" dirty="0"/>
          </a:p>
          <a:p>
            <a:pPr marL="457200" indent="-457200">
              <a:buFontTx/>
              <a:buChar char="-"/>
            </a:pPr>
            <a:endParaRPr lang="en-US" sz="2800" dirty="0"/>
          </a:p>
          <a:p>
            <a:r>
              <a:rPr lang="en-US" sz="2800" dirty="0">
                <a:latin typeface="Times New Roman" panose="02020603050405020304" pitchFamily="18" charset="0"/>
                <a:cs typeface="Times New Roman" panose="02020603050405020304" pitchFamily="18" charset="0"/>
              </a:rPr>
              <a:t>To design and develop an automated quiz system for conducting tests and evaluating user responses. </a:t>
            </a: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To implement automatic result calculation and PDF certificate generation based on user performance. </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09800" y="1638300"/>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Rectangle 1">
            <a:extLst>
              <a:ext uri="{FF2B5EF4-FFF2-40B4-BE49-F238E27FC236}">
                <a16:creationId xmlns:a16="http://schemas.microsoft.com/office/drawing/2014/main" id="{82E82D89-D7BE-B6CE-AAF5-BCC00CEB6D36}"/>
              </a:ext>
            </a:extLst>
          </p:cNvPr>
          <p:cNvSpPr>
            <a:spLocks noChangeArrowheads="1"/>
          </p:cNvSpPr>
          <p:nvPr/>
        </p:nvSpPr>
        <p:spPr bwMode="auto">
          <a:xfrm>
            <a:off x="1967647" y="2078843"/>
            <a:ext cx="14267047" cy="572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is a web-based automated quiz engine that allows users to register, login, and attempt quizzes online.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Questions are stored in a MySQL database and fetched dynamically, ensuring flexibility and easy updates.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automatically evaluates user responses and calculates scores instantly.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Results are stored securely in the database for future reference and analysis.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PDF certificate is generated automatically for users who meet the passing criteria.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eliminates manual evaluation, reducing errors and saving time.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provides faster processing and improves efficiency compared to traditional methods.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E038BDD-56CA-D85D-AF58-20740848E0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266700"/>
            <a:ext cx="14630400" cy="9753600"/>
          </a:xfrm>
          <a:prstGeom prst="rect">
            <a:avLst/>
          </a:prstGeom>
        </p:spPr>
      </p:pic>
    </p:spTree>
    <p:extLst>
      <p:ext uri="{BB962C8B-B14F-4D97-AF65-F5344CB8AC3E}">
        <p14:creationId xmlns:p14="http://schemas.microsoft.com/office/powerpoint/2010/main" val="3212320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1730394" y="1008320"/>
            <a:ext cx="15082325" cy="14373165"/>
          </a:xfrm>
          <a:prstGeom prst="rect">
            <a:avLst/>
          </a:prstGeom>
          <a:noFill/>
        </p:spPr>
        <p:txBody>
          <a:bodyPr wrap="square" rtlCol="0">
            <a:spAutoFit/>
          </a:bodyPr>
          <a:lstStyle/>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 1. Input</a:t>
            </a:r>
          </a:p>
          <a:p>
            <a:r>
              <a:rPr lang="en-IN" sz="2400" dirty="0">
                <a:latin typeface="Times New Roman" panose="02020603050405020304" pitchFamily="18" charset="0"/>
                <a:cs typeface="Times New Roman" panose="02020603050405020304" pitchFamily="18" charset="0"/>
              </a:rPr>
              <a:t>User registers and logs in </a:t>
            </a:r>
          </a:p>
          <a:p>
            <a:r>
              <a:rPr lang="en-IN" sz="2400" dirty="0">
                <a:latin typeface="Times New Roman" panose="02020603050405020304" pitchFamily="18" charset="0"/>
                <a:cs typeface="Times New Roman" panose="02020603050405020304" pitchFamily="18" charset="0"/>
              </a:rPr>
              <a:t>User selects and answers quiz questions </a:t>
            </a:r>
          </a:p>
          <a:p>
            <a:r>
              <a:rPr lang="en-IN" sz="2400" dirty="0">
                <a:latin typeface="Times New Roman" panose="02020603050405020304" pitchFamily="18" charset="0"/>
                <a:cs typeface="Times New Roman" panose="02020603050405020304" pitchFamily="18" charset="0"/>
              </a:rPr>
              <a:t>Data entered through HTML forms </a:t>
            </a:r>
          </a:p>
          <a:p>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2. Processing</a:t>
            </a:r>
          </a:p>
          <a:p>
            <a:r>
              <a:rPr lang="en-IN" sz="2400" dirty="0">
                <a:latin typeface="Times New Roman" panose="02020603050405020304" pitchFamily="18" charset="0"/>
                <a:cs typeface="Times New Roman" panose="02020603050405020304" pitchFamily="18" charset="0"/>
              </a:rPr>
              <a:t>PHP handles user authentication </a:t>
            </a:r>
          </a:p>
          <a:p>
            <a:r>
              <a:rPr lang="en-IN" sz="2400" dirty="0">
                <a:latin typeface="Times New Roman" panose="02020603050405020304" pitchFamily="18" charset="0"/>
                <a:cs typeface="Times New Roman" panose="02020603050405020304" pitchFamily="18" charset="0"/>
              </a:rPr>
              <a:t>Quiz answers are validated </a:t>
            </a:r>
          </a:p>
          <a:p>
            <a:r>
              <a:rPr lang="en-IN" sz="2400" dirty="0">
                <a:latin typeface="Times New Roman" panose="02020603050405020304" pitchFamily="18" charset="0"/>
                <a:cs typeface="Times New Roman" panose="02020603050405020304" pitchFamily="18" charset="0"/>
              </a:rPr>
              <a:t>Score is calculated automatically </a:t>
            </a:r>
          </a:p>
          <a:p>
            <a:r>
              <a:rPr lang="en-IN" sz="2400" dirty="0">
                <a:latin typeface="Times New Roman" panose="02020603050405020304" pitchFamily="18" charset="0"/>
                <a:cs typeface="Times New Roman" panose="02020603050405020304" pitchFamily="18" charset="0"/>
              </a:rPr>
              <a:t>Pass/fail condition is checked </a:t>
            </a:r>
          </a:p>
          <a:p>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3. Database</a:t>
            </a:r>
          </a:p>
          <a:p>
            <a:r>
              <a:rPr lang="en-IN" sz="2400" dirty="0">
                <a:latin typeface="Times New Roman" panose="02020603050405020304" pitchFamily="18" charset="0"/>
                <a:cs typeface="Times New Roman" panose="02020603050405020304" pitchFamily="18" charset="0"/>
              </a:rPr>
              <a:t>MySQL stores: </a:t>
            </a:r>
          </a:p>
          <a:p>
            <a:pPr lvl="1"/>
            <a:r>
              <a:rPr lang="en-IN" sz="2400" dirty="0">
                <a:latin typeface="Times New Roman" panose="02020603050405020304" pitchFamily="18" charset="0"/>
                <a:cs typeface="Times New Roman" panose="02020603050405020304" pitchFamily="18" charset="0"/>
              </a:rPr>
              <a:t>User details </a:t>
            </a:r>
          </a:p>
          <a:p>
            <a:pPr lvl="1"/>
            <a:r>
              <a:rPr lang="en-IN" sz="2400" dirty="0">
                <a:latin typeface="Times New Roman" panose="02020603050405020304" pitchFamily="18" charset="0"/>
                <a:cs typeface="Times New Roman" panose="02020603050405020304" pitchFamily="18" charset="0"/>
              </a:rPr>
              <a:t>Questions and answers </a:t>
            </a:r>
          </a:p>
          <a:p>
            <a:pPr lvl="1"/>
            <a:r>
              <a:rPr lang="en-IN" sz="2400" dirty="0">
                <a:latin typeface="Times New Roman" panose="02020603050405020304" pitchFamily="18" charset="0"/>
                <a:cs typeface="Times New Roman" panose="02020603050405020304" pitchFamily="18" charset="0"/>
              </a:rPr>
              <a:t>Quiz results </a:t>
            </a:r>
          </a:p>
          <a:p>
            <a:r>
              <a:rPr lang="en-IN" sz="2400" dirty="0">
                <a:latin typeface="Times New Roman" panose="02020603050405020304" pitchFamily="18" charset="0"/>
                <a:cs typeface="Times New Roman" panose="02020603050405020304" pitchFamily="18" charset="0"/>
              </a:rPr>
              <a:t>Data is retrieved and updated dynamically </a:t>
            </a:r>
          </a:p>
          <a:p>
            <a:br>
              <a:rPr lang="en-IN" sz="2400" dirty="0">
                <a:latin typeface="Times New Roman" panose="02020603050405020304" pitchFamily="18" charset="0"/>
                <a:cs typeface="Times New Roman" panose="02020603050405020304" pitchFamily="18" charset="0"/>
              </a:rPr>
            </a:br>
            <a:r>
              <a:rPr lang="en-IN" sz="2400" b="1" dirty="0">
                <a:latin typeface="Times New Roman" panose="02020603050405020304" pitchFamily="18" charset="0"/>
                <a:cs typeface="Times New Roman" panose="02020603050405020304" pitchFamily="18" charset="0"/>
              </a:rPr>
              <a:t> 4. Output</a:t>
            </a:r>
          </a:p>
          <a:p>
            <a:r>
              <a:rPr lang="en-IN" sz="2400" dirty="0">
                <a:latin typeface="Times New Roman" panose="02020603050405020304" pitchFamily="18" charset="0"/>
                <a:cs typeface="Times New Roman" panose="02020603050405020304" pitchFamily="18" charset="0"/>
              </a:rPr>
              <a:t>Displays quiz score instantly </a:t>
            </a:r>
          </a:p>
          <a:p>
            <a:r>
              <a:rPr lang="en-IN" sz="2400" dirty="0">
                <a:latin typeface="Times New Roman" panose="02020603050405020304" pitchFamily="18" charset="0"/>
                <a:cs typeface="Times New Roman" panose="02020603050405020304" pitchFamily="18" charset="0"/>
              </a:rPr>
              <a:t>Shows result (Pass/Fail) </a:t>
            </a:r>
          </a:p>
          <a:p>
            <a:r>
              <a:rPr lang="en-IN" sz="2400" dirty="0">
                <a:latin typeface="Times New Roman" panose="02020603050405020304" pitchFamily="18" charset="0"/>
                <a:cs typeface="Times New Roman" panose="02020603050405020304" pitchFamily="18" charset="0"/>
              </a:rPr>
              <a:t>Generates downloadable PDF certificate </a:t>
            </a:r>
          </a:p>
          <a:p>
            <a:r>
              <a:rPr lang="en-IN" sz="2400" dirty="0">
                <a:latin typeface="Times New Roman" panose="02020603050405020304" pitchFamily="18" charset="0"/>
                <a:cs typeface="Times New Roman" panose="02020603050405020304" pitchFamily="18" charset="0"/>
              </a:rPr>
              <a:t>Provides user feedback</a:t>
            </a: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4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r>
              <a:rPr lang="en-US" sz="2800" dirty="0"/>
              <a:t>(Add 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4AE6102E-369F-0A96-0AAC-C36E84D6E6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19325" y="1360374"/>
            <a:ext cx="13258800" cy="88392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1821094" y="352425"/>
            <a:ext cx="15082325" cy="13449836"/>
          </a:xfrm>
          <a:prstGeom prst="rect">
            <a:avLst/>
          </a:prstGeom>
          <a:noFill/>
        </p:spPr>
        <p:txBody>
          <a:bodyPr wrap="square" rtlCol="0">
            <a:spAutoFit/>
          </a:bodyPr>
          <a:lstStyle/>
          <a:p>
            <a:endParaRPr lang="en-IN" sz="2800" b="1" dirty="0"/>
          </a:p>
          <a:p>
            <a:endParaRPr lang="en-IN" sz="2800" b="1" dirty="0"/>
          </a:p>
          <a:p>
            <a:endParaRPr lang="en-IN" sz="2800" b="1" dirty="0"/>
          </a:p>
          <a:p>
            <a:r>
              <a:rPr lang="en-IN" sz="2800" b="1" dirty="0"/>
              <a:t>Frontend: </a:t>
            </a:r>
            <a:r>
              <a:rPr lang="en-IN" sz="2800" dirty="0"/>
              <a:t>HTML5 , CSS3 , JavaScript </a:t>
            </a:r>
          </a:p>
          <a:p>
            <a:endParaRPr lang="en-IN" sz="2800" dirty="0"/>
          </a:p>
          <a:p>
            <a:r>
              <a:rPr lang="en-IN" sz="2800" b="1" dirty="0"/>
              <a:t>Backend: </a:t>
            </a:r>
            <a:r>
              <a:rPr lang="en-IN" sz="2800" dirty="0"/>
              <a:t>PHP </a:t>
            </a:r>
          </a:p>
          <a:p>
            <a:endParaRPr lang="en-IN" sz="2800" dirty="0"/>
          </a:p>
          <a:p>
            <a:r>
              <a:rPr lang="en-IN" sz="2800" b="1" dirty="0"/>
              <a:t>Database: </a:t>
            </a:r>
            <a:r>
              <a:rPr lang="en-IN" sz="2800" dirty="0"/>
              <a:t>MySQL </a:t>
            </a:r>
          </a:p>
          <a:p>
            <a:endParaRPr lang="en-IN" sz="2800" dirty="0"/>
          </a:p>
          <a:p>
            <a:r>
              <a:rPr lang="en-IN" sz="2800" b="1" dirty="0"/>
              <a:t>Tools: </a:t>
            </a:r>
            <a:r>
              <a:rPr lang="en-IN" sz="2800" dirty="0"/>
              <a:t>XAMPP Server  , phpMyAdmin , Visual Studio Code (or any code editor) ,Web Browser (Chrome/Edge) </a:t>
            </a:r>
          </a:p>
          <a:p>
            <a:endParaRPr lang="en-IN" sz="2800" dirty="0"/>
          </a:p>
          <a:p>
            <a:r>
              <a:rPr lang="en-IN" sz="2800" b="1" dirty="0">
                <a:latin typeface="Times New Roman" panose="02020603050405020304" pitchFamily="18" charset="0"/>
                <a:cs typeface="Times New Roman" panose="02020603050405020304" pitchFamily="18" charset="0"/>
              </a:rPr>
              <a:t>Hardware/Software Requirements:</a:t>
            </a:r>
          </a:p>
          <a:p>
            <a:endParaRPr lang="en-IN" sz="2800" b="1"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Hardware: </a:t>
            </a:r>
            <a:r>
              <a:rPr lang="en-IN" sz="2800" dirty="0">
                <a:latin typeface="Times New Roman" panose="02020603050405020304" pitchFamily="18" charset="0"/>
                <a:cs typeface="Times New Roman" panose="02020603050405020304" pitchFamily="18" charset="0"/>
              </a:rPr>
              <a:t>Minimum 4 GB RAM  , Intel i3 or above processor  ,10 GB free disk space </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Software: </a:t>
            </a:r>
            <a:r>
              <a:rPr lang="en-IN" sz="2800" dirty="0">
                <a:latin typeface="Times New Roman" panose="02020603050405020304" pitchFamily="18" charset="0"/>
                <a:cs typeface="Times New Roman" panose="02020603050405020304" pitchFamily="18" charset="0"/>
              </a:rPr>
              <a:t>Windows 10/11  , XAMPP (Apache + MySQL + PHP)  , Web Browser (Chrome/Edge) </a:t>
            </a:r>
          </a:p>
          <a:p>
            <a:r>
              <a:rPr lang="en-IN" sz="2800" dirty="0">
                <a:latin typeface="Times New Roman" panose="02020603050405020304" pitchFamily="18" charset="0"/>
                <a:cs typeface="Times New Roman" panose="02020603050405020304" pitchFamily="18" charset="0"/>
              </a:rPr>
              <a:t>Code Editor (VS Code / Notepad++)</a:t>
            </a:r>
            <a:endParaRPr lang="en-IN" sz="2800" dirty="0"/>
          </a:p>
          <a:p>
            <a:r>
              <a:rPr lang="en-IN" sz="2800" b="1" dirty="0"/>
              <a:t> </a:t>
            </a: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3810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8279190"/>
          </a:xfrm>
          <a:prstGeom prst="rect">
            <a:avLst/>
          </a:prstGeom>
          <a:noFill/>
        </p:spPr>
        <p:txBody>
          <a:bodyPr wrap="square" rtlCol="0">
            <a:spAutoFit/>
          </a:bodyPr>
          <a:lstStyle/>
          <a:p>
            <a:endParaRPr lang="en-IN" sz="2800" b="1" dirty="0"/>
          </a:p>
          <a:p>
            <a:r>
              <a:rPr lang="en-IN" sz="2800" b="1" dirty="0"/>
              <a:t>Module 1: User Management</a:t>
            </a:r>
          </a:p>
          <a:p>
            <a:r>
              <a:rPr lang="en-IN" sz="2800" dirty="0"/>
              <a:t>Handles user registration, login, and logout functionality. It manages user credentials and maintains session control for secure access to the quiz system.</a:t>
            </a:r>
          </a:p>
          <a:p>
            <a:endParaRPr lang="en-IN" sz="2800" dirty="0"/>
          </a:p>
          <a:p>
            <a:r>
              <a:rPr lang="en-IN" sz="2800" b="1" dirty="0"/>
              <a:t> Module 2: Quiz Processing</a:t>
            </a:r>
          </a:p>
          <a:p>
            <a:r>
              <a:rPr lang="en-IN" sz="2800" dirty="0"/>
              <a:t>Implements the core quiz functionality by displaying questions, capturing user responses, and evaluating answers. It calculates scores and determines pass/fail status.</a:t>
            </a:r>
          </a:p>
          <a:p>
            <a:endParaRPr lang="en-IN" sz="2800" dirty="0"/>
          </a:p>
          <a:p>
            <a:r>
              <a:rPr lang="en-IN" sz="2800" b="1" dirty="0"/>
              <a:t>Module 3: Database Management</a:t>
            </a:r>
          </a:p>
          <a:p>
            <a:r>
              <a:rPr lang="en-IN" sz="2800" dirty="0"/>
              <a:t>Manages storage and retrieval of data such as user details, quiz questions, and results using MySQL. Ensures data consistency and efficient querying.</a:t>
            </a:r>
          </a:p>
          <a:p>
            <a:br>
              <a:rPr lang="en-IN" sz="2800" dirty="0"/>
            </a:br>
            <a:r>
              <a:rPr lang="en-IN" sz="2800" b="1" dirty="0"/>
              <a:t> Module 4: Result &amp; Certification</a:t>
            </a:r>
          </a:p>
          <a:p>
            <a:r>
              <a:rPr lang="en-IN" sz="2800" dirty="0"/>
              <a:t>Displays quiz results instantly and generates a PDF certificate for users who pass the quiz. Stores result history for future reference.</a:t>
            </a:r>
          </a:p>
          <a:p>
            <a:endParaRPr lang="en-IN" sz="2800" dirty="0"/>
          </a:p>
          <a:p>
            <a:endParaRPr lang="en-IN" sz="2800" dirty="0"/>
          </a:p>
          <a:p>
            <a:endParaRPr lang="en-IN"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133600" y="1638300"/>
            <a:ext cx="15082325" cy="3108543"/>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88F3D55-A959-C446-45EE-5431623267B0}"/>
              </a:ext>
            </a:extLst>
          </p:cNvPr>
          <p:cNvPicPr>
            <a:picLocks noChangeAspect="1"/>
          </p:cNvPicPr>
          <p:nvPr/>
        </p:nvPicPr>
        <p:blipFill>
          <a:blip r:embed="rId4"/>
          <a:stretch>
            <a:fillRect/>
          </a:stretch>
        </p:blipFill>
        <p:spPr>
          <a:xfrm>
            <a:off x="2345272" y="1359299"/>
            <a:ext cx="13354712" cy="6583407"/>
          </a:xfrm>
          <a:prstGeom prst="rect">
            <a:avLst/>
          </a:prstGeom>
        </p:spPr>
      </p:pic>
      <p:sp>
        <p:nvSpPr>
          <p:cNvPr id="5" name="TextBox 4">
            <a:extLst>
              <a:ext uri="{FF2B5EF4-FFF2-40B4-BE49-F238E27FC236}">
                <a16:creationId xmlns:a16="http://schemas.microsoft.com/office/drawing/2014/main" id="{A817A29E-AC3A-E3B0-4584-20425BB8ED0A}"/>
              </a:ext>
            </a:extLst>
          </p:cNvPr>
          <p:cNvSpPr txBox="1"/>
          <p:nvPr/>
        </p:nvSpPr>
        <p:spPr>
          <a:xfrm>
            <a:off x="2488322" y="8648700"/>
            <a:ext cx="14211300" cy="830997"/>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User-friendly Automated Quiz Engine interface with student and admin login options.</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Provides instant results, quiz access, and PDF certificate generation features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AEA0EE6-83C1-79BF-3A18-D2A648B6A795}"/>
              </a:ext>
            </a:extLst>
          </p:cNvPr>
          <p:cNvPicPr>
            <a:picLocks noChangeAspect="1"/>
          </p:cNvPicPr>
          <p:nvPr/>
        </p:nvPicPr>
        <p:blipFill>
          <a:blip r:embed="rId4"/>
          <a:stretch>
            <a:fillRect/>
          </a:stretch>
        </p:blipFill>
        <p:spPr>
          <a:xfrm>
            <a:off x="1821095" y="1516527"/>
            <a:ext cx="14866706" cy="6871687"/>
          </a:xfrm>
          <a:prstGeom prst="rect">
            <a:avLst/>
          </a:prstGeom>
        </p:spPr>
      </p:pic>
      <p:sp>
        <p:nvSpPr>
          <p:cNvPr id="5" name="TextBox 4">
            <a:extLst>
              <a:ext uri="{FF2B5EF4-FFF2-40B4-BE49-F238E27FC236}">
                <a16:creationId xmlns:a16="http://schemas.microsoft.com/office/drawing/2014/main" id="{6C7DAFE5-D9D5-57F0-D23F-50C91B505FCD}"/>
              </a:ext>
            </a:extLst>
          </p:cNvPr>
          <p:cNvSpPr txBox="1"/>
          <p:nvPr/>
        </p:nvSpPr>
        <p:spPr>
          <a:xfrm>
            <a:off x="1821095" y="8808573"/>
            <a:ext cx="14211300" cy="830997"/>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Secure student login interface for accessing the quiz system.</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Allows registered users to authenticate and start quizzes seamlessly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1873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29657" y="6794373"/>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1810" y="3456221"/>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1810" y="2122828"/>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1810" y="4123852"/>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1810" y="2788591"/>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1810" y="5459113"/>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1810" y="4791482"/>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1810" y="6126743"/>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1810" y="7901325"/>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07489" y="1169179"/>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64739" y="-38100"/>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46469" y="48337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3869" y="1778779"/>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346793CF-D6D5-564D-BB06-CF2AA7FD879C}"/>
              </a:ext>
            </a:extLst>
          </p:cNvPr>
          <p:cNvPicPr>
            <a:picLocks noChangeAspect="1"/>
          </p:cNvPicPr>
          <p:nvPr/>
        </p:nvPicPr>
        <p:blipFill>
          <a:blip r:embed="rId4"/>
          <a:stretch>
            <a:fillRect/>
          </a:stretch>
        </p:blipFill>
        <p:spPr>
          <a:xfrm>
            <a:off x="1848877" y="1642657"/>
            <a:ext cx="14772294" cy="6751070"/>
          </a:xfrm>
          <a:prstGeom prst="rect">
            <a:avLst/>
          </a:prstGeom>
        </p:spPr>
      </p:pic>
      <p:sp>
        <p:nvSpPr>
          <p:cNvPr id="5" name="TextBox 4">
            <a:extLst>
              <a:ext uri="{FF2B5EF4-FFF2-40B4-BE49-F238E27FC236}">
                <a16:creationId xmlns:a16="http://schemas.microsoft.com/office/drawing/2014/main" id="{A36421B0-021C-5EF8-AD36-9B2B6E28C715}"/>
              </a:ext>
            </a:extLst>
          </p:cNvPr>
          <p:cNvSpPr txBox="1"/>
          <p:nvPr/>
        </p:nvSpPr>
        <p:spPr>
          <a:xfrm>
            <a:off x="1752600" y="8766857"/>
            <a:ext cx="14211300" cy="830997"/>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Interactive quiz interface displaying multiple-choice questions to the user.</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Evaluates user responses in real-time to calculate score and determine pass status.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448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078CFC6C-3681-A584-40F7-C35240613B34}"/>
              </a:ext>
            </a:extLst>
          </p:cNvPr>
          <p:cNvPicPr>
            <a:picLocks noChangeAspect="1"/>
          </p:cNvPicPr>
          <p:nvPr/>
        </p:nvPicPr>
        <p:blipFill>
          <a:blip r:embed="rId4"/>
          <a:stretch>
            <a:fillRect/>
          </a:stretch>
        </p:blipFill>
        <p:spPr>
          <a:xfrm>
            <a:off x="3124200" y="1305149"/>
            <a:ext cx="10797488" cy="7235512"/>
          </a:xfrm>
          <a:prstGeom prst="rect">
            <a:avLst/>
          </a:prstGeom>
        </p:spPr>
      </p:pic>
      <p:sp>
        <p:nvSpPr>
          <p:cNvPr id="5" name="TextBox 4">
            <a:extLst>
              <a:ext uri="{FF2B5EF4-FFF2-40B4-BE49-F238E27FC236}">
                <a16:creationId xmlns:a16="http://schemas.microsoft.com/office/drawing/2014/main" id="{BF93E2F6-38A4-9646-09AC-27A54F8E3724}"/>
              </a:ext>
            </a:extLst>
          </p:cNvPr>
          <p:cNvSpPr txBox="1"/>
          <p:nvPr/>
        </p:nvSpPr>
        <p:spPr>
          <a:xfrm>
            <a:off x="2743200" y="8714020"/>
            <a:ext cx="14211300" cy="830997"/>
          </a:xfrm>
          <a:prstGeom prst="rect">
            <a:avLst/>
          </a:prstGeom>
          <a:noFill/>
        </p:spPr>
        <p:txBody>
          <a:bodyPr wrap="square">
            <a:spAutoFit/>
          </a:bodyPr>
          <a:lstStyle/>
          <a:p>
            <a:r>
              <a:rPr lang="en-GB" sz="2400" dirty="0">
                <a:latin typeface="Times New Roman" panose="02020603050405020304" pitchFamily="18" charset="0"/>
                <a:cs typeface="Times New Roman" panose="02020603050405020304" pitchFamily="18" charset="0"/>
              </a:rPr>
              <a:t>Automatically generated certificate awarded upon successful quiz completion.</a:t>
            </a:r>
            <a:br>
              <a:rPr lang="en-GB" sz="2400" dirty="0">
                <a:latin typeface="Times New Roman" panose="02020603050405020304" pitchFamily="18" charset="0"/>
                <a:cs typeface="Times New Roman" panose="02020603050405020304" pitchFamily="18" charset="0"/>
              </a:rPr>
            </a:br>
            <a:r>
              <a:rPr lang="en-GB" sz="2400" dirty="0">
                <a:latin typeface="Times New Roman" panose="02020603050405020304" pitchFamily="18" charset="0"/>
                <a:cs typeface="Times New Roman" panose="02020603050405020304" pitchFamily="18" charset="0"/>
              </a:rPr>
              <a:t>Displays user name, score, and date as proof of achievement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48899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6113025-324F-67B5-BFC6-F9C1E5DC308F}"/>
              </a:ext>
            </a:extLst>
          </p:cNvPr>
          <p:cNvSpPr txBox="1"/>
          <p:nvPr/>
        </p:nvSpPr>
        <p:spPr>
          <a:xfrm>
            <a:off x="2107947" y="2186196"/>
            <a:ext cx="14047838" cy="5632311"/>
          </a:xfrm>
          <a:prstGeom prst="rect">
            <a:avLst/>
          </a:prstGeom>
          <a:noFill/>
        </p:spPr>
        <p:txBody>
          <a:bodyPr wrap="square">
            <a:spAutoFit/>
          </a:bodyPr>
          <a:lstStyle/>
          <a:p>
            <a:pPr>
              <a:buNone/>
            </a:pPr>
            <a:r>
              <a:rPr lang="en-US" sz="2400" b="1" dirty="0">
                <a:latin typeface="Times New Roman" panose="02020603050405020304" pitchFamily="18" charset="0"/>
                <a:cs typeface="Times New Roman" panose="02020603050405020304" pitchFamily="18" charset="0"/>
              </a:rPr>
              <a:t>ADVANTAGES</a:t>
            </a:r>
          </a:p>
          <a:p>
            <a:pPr>
              <a:buFont typeface="+mj-lt"/>
              <a:buAutoNum type="arabicPeriod"/>
            </a:pPr>
            <a:r>
              <a:rPr lang="en-US" sz="2400" dirty="0">
                <a:latin typeface="Times New Roman" panose="02020603050405020304" pitchFamily="18" charset="0"/>
                <a:cs typeface="Times New Roman" panose="02020603050405020304" pitchFamily="18" charset="0"/>
              </a:rPr>
              <a:t>Automates quiz conduction, evaluation, and certificate generation, reducing manual effort. </a:t>
            </a:r>
          </a:p>
          <a:p>
            <a:pPr>
              <a:buFont typeface="+mj-lt"/>
              <a:buAutoNum type="arabicPeriod"/>
            </a:pPr>
            <a:r>
              <a:rPr lang="en-US" sz="2400" dirty="0">
                <a:latin typeface="Times New Roman" panose="02020603050405020304" pitchFamily="18" charset="0"/>
                <a:cs typeface="Times New Roman" panose="02020603050405020304" pitchFamily="18" charset="0"/>
              </a:rPr>
              <a:t>Provides instant results, saving time for both users and administrators. </a:t>
            </a:r>
          </a:p>
          <a:p>
            <a:pPr>
              <a:buFont typeface="+mj-lt"/>
              <a:buAutoNum type="arabicPeriod"/>
            </a:pPr>
            <a:r>
              <a:rPr lang="en-US" sz="2400" dirty="0">
                <a:latin typeface="Times New Roman" panose="02020603050405020304" pitchFamily="18" charset="0"/>
                <a:cs typeface="Times New Roman" panose="02020603050405020304" pitchFamily="18" charset="0"/>
              </a:rPr>
              <a:t>Reduces human errors in scoring and result processing. </a:t>
            </a:r>
          </a:p>
          <a:p>
            <a:pPr>
              <a:buFont typeface="+mj-lt"/>
              <a:buAutoNum type="arabicPeriod"/>
            </a:pPr>
            <a:r>
              <a:rPr lang="en-US" sz="2400" dirty="0">
                <a:latin typeface="Times New Roman" panose="02020603050405020304" pitchFamily="18" charset="0"/>
                <a:cs typeface="Times New Roman" panose="02020603050405020304" pitchFamily="18" charset="0"/>
              </a:rPr>
              <a:t>Easy to use and accessible through a web browser. </a:t>
            </a:r>
          </a:p>
          <a:p>
            <a:pPr>
              <a:buFont typeface="+mj-lt"/>
              <a:buAutoNum type="arabicPeriod"/>
            </a:pPr>
            <a:r>
              <a:rPr lang="en-US" sz="2400" dirty="0">
                <a:latin typeface="Times New Roman" panose="02020603050405020304" pitchFamily="18" charset="0"/>
                <a:cs typeface="Times New Roman" panose="02020603050405020304" pitchFamily="18" charset="0"/>
              </a:rPr>
              <a:t>Stores user data and results securely for future reference. </a:t>
            </a:r>
          </a:p>
          <a:p>
            <a:pPr>
              <a:buFont typeface="+mj-lt"/>
              <a:buAutoNum type="arabicPeriod"/>
            </a:pPr>
            <a:r>
              <a:rPr lang="en-US" sz="2400" dirty="0">
                <a:latin typeface="Times New Roman" panose="02020603050405020304" pitchFamily="18" charset="0"/>
                <a:cs typeface="Times New Roman" panose="02020603050405020304" pitchFamily="18" charset="0"/>
              </a:rPr>
              <a:t>Scalable system that can be extended with more features like admin panel or analytics. </a:t>
            </a:r>
          </a:p>
          <a:p>
            <a:pPr>
              <a:buNone/>
            </a:pPr>
            <a:br>
              <a:rPr lang="en-US" sz="2400" dirty="0">
                <a:latin typeface="Times New Roman" panose="02020603050405020304" pitchFamily="18" charset="0"/>
                <a:cs typeface="Times New Roman" panose="02020603050405020304" pitchFamily="18" charset="0"/>
              </a:rPr>
            </a:br>
            <a:endParaRPr lang="en-US" sz="2400" dirty="0">
              <a:latin typeface="Times New Roman" panose="02020603050405020304" pitchFamily="18" charset="0"/>
              <a:cs typeface="Times New Roman" panose="02020603050405020304" pitchFamily="18" charset="0"/>
            </a:endParaRPr>
          </a:p>
          <a:p>
            <a:pPr>
              <a:buNone/>
            </a:pPr>
            <a:r>
              <a:rPr lang="en-US" sz="2400" b="1" dirty="0">
                <a:latin typeface="Times New Roman" panose="02020603050405020304" pitchFamily="18" charset="0"/>
                <a:cs typeface="Times New Roman" panose="02020603050405020304" pitchFamily="18" charset="0"/>
              </a:rPr>
              <a:t> LIMITATIONS</a:t>
            </a:r>
          </a:p>
          <a:p>
            <a:pPr>
              <a:buFont typeface="+mj-lt"/>
              <a:buAutoNum type="arabicPeriod"/>
            </a:pPr>
            <a:r>
              <a:rPr lang="en-US" sz="2400" dirty="0">
                <a:latin typeface="Times New Roman" panose="02020603050405020304" pitchFamily="18" charset="0"/>
                <a:cs typeface="Times New Roman" panose="02020603050405020304" pitchFamily="18" charset="0"/>
              </a:rPr>
              <a:t>Requires internet connection or local server to access the system. </a:t>
            </a:r>
          </a:p>
          <a:p>
            <a:pPr>
              <a:buFont typeface="+mj-lt"/>
              <a:buAutoNum type="arabicPeriod"/>
            </a:pPr>
            <a:r>
              <a:rPr lang="en-US" sz="2400" dirty="0">
                <a:latin typeface="Times New Roman" panose="02020603050405020304" pitchFamily="18" charset="0"/>
                <a:cs typeface="Times New Roman" panose="02020603050405020304" pitchFamily="18" charset="0"/>
              </a:rPr>
              <a:t>Basic security implementation (can be improved with encryption and hashing). </a:t>
            </a:r>
          </a:p>
          <a:p>
            <a:pPr>
              <a:buFont typeface="+mj-lt"/>
              <a:buAutoNum type="arabicPeriod"/>
            </a:pPr>
            <a:r>
              <a:rPr lang="en-US" sz="2400" dirty="0">
                <a:latin typeface="Times New Roman" panose="02020603050405020304" pitchFamily="18" charset="0"/>
                <a:cs typeface="Times New Roman" panose="02020603050405020304" pitchFamily="18" charset="0"/>
              </a:rPr>
              <a:t>Limited to objective-type questions (MCQs only). </a:t>
            </a:r>
          </a:p>
          <a:p>
            <a:pPr>
              <a:buFont typeface="+mj-lt"/>
              <a:buAutoNum type="arabicPeriod"/>
            </a:pPr>
            <a:r>
              <a:rPr lang="en-US" sz="2400" dirty="0">
                <a:latin typeface="Times New Roman" panose="02020603050405020304" pitchFamily="18" charset="0"/>
                <a:cs typeface="Times New Roman" panose="02020603050405020304" pitchFamily="18" charset="0"/>
              </a:rPr>
              <a:t>No advanced analytics or reporting features in current version. </a:t>
            </a:r>
          </a:p>
          <a:p>
            <a:pPr>
              <a:buFont typeface="+mj-lt"/>
              <a:buAutoNum type="arabicPeriod"/>
            </a:pPr>
            <a:r>
              <a:rPr lang="en-US" sz="2400" dirty="0">
                <a:latin typeface="Times New Roman" panose="02020603050405020304" pitchFamily="18" charset="0"/>
                <a:cs typeface="Times New Roman" panose="02020603050405020304" pitchFamily="18" charset="0"/>
              </a:rPr>
              <a:t>Performance may decrease with very large number of users or questions.</a:t>
            </a:r>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TotalTime>
  <Words>1124</Words>
  <Application>Microsoft Office PowerPoint</Application>
  <PresentationFormat>Custom</PresentationFormat>
  <Paragraphs>341</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Times New Roman</vt:lpstr>
      <vt:lpstr>Cambria</vt:lpstr>
      <vt:lpstr>Gotham</vt:lpstr>
      <vt:lpstr>Bookman Old Style</vt:lpstr>
      <vt:lpstr>Gotham Bold Italics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Venki's Laptop</dc:creator>
  <cp:lastModifiedBy>k.charan deepak</cp:lastModifiedBy>
  <cp:revision>32</cp:revision>
  <dcterms:created xsi:type="dcterms:W3CDTF">2006-08-16T00:00:00Z</dcterms:created>
  <dcterms:modified xsi:type="dcterms:W3CDTF">2026-03-27T05:39:15Z</dcterms:modified>
  <dc:identifier>DAHCaYqJ9OU</dc:identifier>
</cp:coreProperties>
</file>